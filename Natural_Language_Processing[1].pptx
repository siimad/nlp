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6" r:id="rId8"/>
    <p:sldId id="260" r:id="rId9"/>
    <p:sldId id="261" r:id="rId10"/>
    <p:sldId id="270" r:id="rId11"/>
    <p:sldId id="267" r:id="rId12"/>
    <p:sldId id="268" r:id="rId13"/>
    <p:sldId id="27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003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2472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7532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4010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8076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633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839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8864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5911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1030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58821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1107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56193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11710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6988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3467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078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9F7B3D-DFB3-417C-A796-C6C2C98719F1}" type="datetimeFigureOut">
              <a:rPr lang="en-UG" smtClean="0"/>
              <a:t>05/11/2025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37908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A0B882D-4FEF-4E28-9811-11D57386D4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E378A-423A-B1AF-D734-3C87746F2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By group 1 </a:t>
            </a:r>
            <a:endParaRPr lang="en-UG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36BA9-D0B7-5BE6-C7BA-32E977ADC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Natural Language Processing </a:t>
            </a:r>
            <a:endParaRPr lang="en-U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A6D14-0849-4180-8DEF-F2F6BF1232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52018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E82FA-C5AB-36C8-DE4D-C1121EC5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Loading &amp; Preprocessing </a:t>
            </a: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2FDB-CB9F-9EAC-3AB4-903D9D89A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This section handles </a:t>
            </a:r>
            <a:r>
              <a:rPr lang="en-US" sz="1400" b="1"/>
              <a:t>preparing the data</a:t>
            </a:r>
            <a:r>
              <a:rPr lang="en-US" sz="1400"/>
              <a:t> so it can be used by the models later.</a:t>
            </a:r>
            <a:br>
              <a:rPr lang="en-US" sz="1400"/>
            </a:br>
            <a:r>
              <a:rPr lang="en-US" sz="1400"/>
              <a:t>It usually includes:</a:t>
            </a:r>
          </a:p>
          <a:p>
            <a:pPr>
              <a:lnSpc>
                <a:spcPct val="90000"/>
              </a:lnSpc>
            </a:pPr>
            <a:r>
              <a:rPr lang="en-US" sz="1400" b="1"/>
              <a:t>Installing dependencies</a:t>
            </a:r>
            <a:r>
              <a:rPr lang="en-US" sz="1400"/>
              <a:t> – making sure all Python libraries (like TensorFlow, </a:t>
            </a:r>
            <a:r>
              <a:rPr lang="en-US" sz="1400" err="1"/>
              <a:t>Gensim</a:t>
            </a:r>
            <a:r>
              <a:rPr lang="en-US" sz="1400"/>
              <a:t>, etc.) are available.</a:t>
            </a:r>
          </a:p>
          <a:p>
            <a:pPr>
              <a:lnSpc>
                <a:spcPct val="90000"/>
              </a:lnSpc>
            </a:pPr>
            <a:r>
              <a:rPr lang="en-US" sz="1400" b="1"/>
              <a:t>Importing libraries</a:t>
            </a:r>
            <a:r>
              <a:rPr lang="en-US" sz="1400"/>
              <a:t> – such as </a:t>
            </a:r>
            <a:r>
              <a:rPr lang="en-US" sz="1400" err="1"/>
              <a:t>numpy</a:t>
            </a:r>
            <a:r>
              <a:rPr lang="en-US" sz="1400"/>
              <a:t>, pandas, and </a:t>
            </a:r>
            <a:r>
              <a:rPr lang="en-US" sz="1400" err="1"/>
              <a:t>keras</a:t>
            </a:r>
            <a:r>
              <a:rPr lang="en-US" sz="1400"/>
              <a:t> for modeling and data manipulation.</a:t>
            </a:r>
          </a:p>
          <a:p>
            <a:pPr>
              <a:lnSpc>
                <a:spcPct val="90000"/>
              </a:lnSpc>
            </a:pPr>
            <a:r>
              <a:rPr lang="en-US" sz="1400" b="1"/>
              <a:t>Loading the dataset</a:t>
            </a:r>
            <a:r>
              <a:rPr lang="en-US" sz="1400"/>
              <a:t> – probably a Swahili sentiment dataset (e.g., tweets or reviews labeled as positive/negative).</a:t>
            </a:r>
          </a:p>
          <a:p>
            <a:pPr>
              <a:lnSpc>
                <a:spcPct val="90000"/>
              </a:lnSpc>
            </a:pPr>
            <a:r>
              <a:rPr lang="en-US" sz="1400" b="1"/>
              <a:t>Text preprocessing</a:t>
            </a:r>
            <a:r>
              <a:rPr lang="en-US" sz="1400"/>
              <a:t> – cleaning and normalizing text (removing punctuation, </a:t>
            </a:r>
            <a:r>
              <a:rPr lang="en-US" sz="1400" err="1"/>
              <a:t>stopwords</a:t>
            </a:r>
            <a:r>
              <a:rPr lang="en-US" sz="1400"/>
              <a:t>, tokenizing, lowercasing).</a:t>
            </a:r>
          </a:p>
          <a:p>
            <a:pPr>
              <a:lnSpc>
                <a:spcPct val="90000"/>
              </a:lnSpc>
            </a:pPr>
            <a:r>
              <a:rPr lang="en-US" sz="1400" b="1"/>
              <a:t>Splitting data</a:t>
            </a:r>
            <a:r>
              <a:rPr lang="en-US" sz="1400"/>
              <a:t> – dividing into training, validation, and test sets.</a:t>
            </a:r>
          </a:p>
          <a:p>
            <a:pPr>
              <a:lnSpc>
                <a:spcPct val="90000"/>
              </a:lnSpc>
            </a:pPr>
            <a:r>
              <a:rPr lang="en-US" sz="1400"/>
              <a:t>Essentially, this section prepares </a:t>
            </a:r>
            <a:r>
              <a:rPr lang="en-US" sz="1400" b="1"/>
              <a:t>clean, tokenized text and labels</a:t>
            </a:r>
            <a:r>
              <a:rPr lang="en-US" sz="1400"/>
              <a:t> for later models.</a:t>
            </a:r>
          </a:p>
          <a:p>
            <a:pPr marL="0" indent="0">
              <a:lnSpc>
                <a:spcPct val="90000"/>
              </a:lnSpc>
              <a:buNone/>
            </a:pPr>
            <a:endParaRPr lang="en-UG" sz="1400"/>
          </a:p>
        </p:txBody>
      </p:sp>
    </p:spTree>
    <p:extLst>
      <p:ext uri="{BB962C8B-B14F-4D97-AF65-F5344CB8AC3E}">
        <p14:creationId xmlns:p14="http://schemas.microsoft.com/office/powerpoint/2010/main" val="4167582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Picture 1049">
            <a:extLst>
              <a:ext uri="{FF2B5EF4-FFF2-40B4-BE49-F238E27FC236}">
                <a16:creationId xmlns:a16="http://schemas.microsoft.com/office/drawing/2014/main" id="{3CC8D252-8044-458D-A776-6A5833FEFD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E884AA69-7728-499C-8FA7-A3FCA738EB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54" name="Oval 1053">
            <a:extLst>
              <a:ext uri="{FF2B5EF4-FFF2-40B4-BE49-F238E27FC236}">
                <a16:creationId xmlns:a16="http://schemas.microsoft.com/office/drawing/2014/main" id="{79760FB8-CC91-426C-9EF3-A58786866B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1056" name="Picture 1055">
            <a:extLst>
              <a:ext uri="{FF2B5EF4-FFF2-40B4-BE49-F238E27FC236}">
                <a16:creationId xmlns:a16="http://schemas.microsoft.com/office/drawing/2014/main" id="{CE274F2C-FBD9-4A60-B6A0-FB7532F599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D543DFE3-F007-48D9-A223-F7351802D4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60" name="Rectangle 1059">
            <a:extLst>
              <a:ext uri="{FF2B5EF4-FFF2-40B4-BE49-F238E27FC236}">
                <a16:creationId xmlns:a16="http://schemas.microsoft.com/office/drawing/2014/main" id="{09E7EBD1-9868-4F2F-B4FF-A89B93CFB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B84B712E-6BBF-4241-BAB7-D7E064B173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64" name="Rectangle 1063">
            <a:extLst>
              <a:ext uri="{FF2B5EF4-FFF2-40B4-BE49-F238E27FC236}">
                <a16:creationId xmlns:a16="http://schemas.microsoft.com/office/drawing/2014/main" id="{D22F3D4E-E5F5-4623-B278-D7E30BEF9D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B2AE8-2847-462D-46E5-8816536D3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1" y="643467"/>
            <a:ext cx="4777188" cy="5571066"/>
          </a:xfrm>
          <a:prstGeom prst="rect">
            <a:avLst/>
          </a:prstGeom>
        </p:spPr>
      </p:pic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7B7F5E51-5BF8-4198-AD70-78D94F3A94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74979"/>
            <a:ext cx="5458121" cy="5897880"/>
          </a:xfrm>
          <a:prstGeom prst="rect">
            <a:avLst/>
          </a:prstGeom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FE75AB-A315-A643-382D-782FF594E4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3321" y="1594748"/>
            <a:ext cx="5134516" cy="36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541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Picture 2093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95" name="Picture 2094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96" name="Oval 2095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2097" name="Picture 2096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98" name="Picture 209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99" name="Rectangle 209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57B849-5BCE-E7EB-47EA-2D9A42AABA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956816"/>
            <a:ext cx="10905066" cy="2944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1" name="Rectangle 2100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329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45B6E-D60F-F1B7-AD16-4402E1DCE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BiLSTM Model with Custom Embeddings</a:t>
            </a: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50EE-6A8F-F568-BBB6-ACC64BFCE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Here the notebook builds a </a:t>
            </a:r>
            <a:r>
              <a:rPr lang="en-US" sz="1700" b="1" dirty="0"/>
              <a:t>Bidirectional LSTM (</a:t>
            </a:r>
            <a:r>
              <a:rPr lang="en-US" sz="1700" b="1" dirty="0" err="1"/>
              <a:t>BiLSTM</a:t>
            </a:r>
            <a:r>
              <a:rPr lang="en-US" sz="1700" b="1" dirty="0"/>
              <a:t>)</a:t>
            </a:r>
            <a:r>
              <a:rPr lang="en-US" sz="1700" dirty="0"/>
              <a:t> model — a type of recurrent neural network that reads text in both forward and backward directions, capturing context more effectively.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Steps  include: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Defining the model architecture</a:t>
            </a:r>
            <a:r>
              <a:rPr lang="en-US" sz="1700" dirty="0"/>
              <a:t> – embedding layer, </a:t>
            </a:r>
            <a:r>
              <a:rPr lang="en-US" sz="1700" dirty="0" err="1"/>
              <a:t>BiLSTM</a:t>
            </a:r>
            <a:r>
              <a:rPr lang="en-US" sz="1700" dirty="0"/>
              <a:t> layer(s), dense layer for classification.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Training the model</a:t>
            </a:r>
            <a:r>
              <a:rPr lang="en-US" sz="1700" dirty="0"/>
              <a:t> – feeding the preprocessed text data into it.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Evaluating the model</a:t>
            </a:r>
            <a:r>
              <a:rPr lang="en-US" sz="1700" dirty="0"/>
              <a:t> – checking accuracy, F1-score, or confusion matrix.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This demonstrates how to build a </a:t>
            </a:r>
            <a:r>
              <a:rPr lang="en-US" sz="1700" b="1" dirty="0"/>
              <a:t>sequence-based sentiment classifier</a:t>
            </a:r>
            <a:r>
              <a:rPr lang="en-US" sz="1700" dirty="0"/>
              <a:t> using deep learning from scratch.</a:t>
            </a:r>
          </a:p>
          <a:p>
            <a:pPr>
              <a:lnSpc>
                <a:spcPct val="90000"/>
              </a:lnSpc>
            </a:pPr>
            <a:endParaRPr lang="en-UG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98CA7-F043-7F61-6A3A-C2DBED84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-1449" r="50326" b="-1877"/>
          <a:stretch>
            <a:fillRect/>
          </a:stretch>
        </p:blipFill>
        <p:spPr>
          <a:xfrm>
            <a:off x="9136502" y="227759"/>
            <a:ext cx="2900823" cy="2224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8191A3-DDAE-BBD5-6BA5-6D71F4F9C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111" y="5571988"/>
            <a:ext cx="2610214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6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5B8C3-C6C7-8DAE-A6CB-FC266E86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GRU Model</a:t>
            </a:r>
            <a:br>
              <a:rPr lang="en-US" b="1">
                <a:solidFill>
                  <a:srgbClr val="FFFFFF"/>
                </a:solidFill>
              </a:rPr>
            </a:b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450A-FD74-36D9-20C6-CA1364F2B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763520"/>
            <a:ext cx="5884342" cy="3484879"/>
          </a:xfrm>
        </p:spPr>
        <p:txBody>
          <a:bodyPr>
            <a:normAutofit/>
          </a:bodyPr>
          <a:lstStyle/>
          <a:p>
            <a:r>
              <a:rPr lang="en-US" dirty="0"/>
              <a:t>This section repeats a similar process, but with a </a:t>
            </a:r>
            <a:r>
              <a:rPr lang="en-US" b="1" dirty="0"/>
              <a:t>Gated Recurrent Unit (GRU)</a:t>
            </a:r>
            <a:r>
              <a:rPr lang="en-US" dirty="0"/>
              <a:t> model instead of </a:t>
            </a:r>
            <a:r>
              <a:rPr lang="en-US" dirty="0" err="1"/>
              <a:t>BiLSTM</a:t>
            </a:r>
            <a:r>
              <a:rPr lang="en-US" dirty="0"/>
              <a:t>.</a:t>
            </a:r>
          </a:p>
          <a:p>
            <a:r>
              <a:rPr lang="en-US" dirty="0"/>
              <a:t>A GRU is a more efficient alternative to LSTM that often performs similarly but trains faster.</a:t>
            </a:r>
            <a:br>
              <a:rPr lang="en-US" dirty="0"/>
            </a:br>
            <a:r>
              <a:rPr lang="en-US" dirty="0"/>
              <a:t>Here, the idea is to </a:t>
            </a:r>
            <a:r>
              <a:rPr lang="en-US" b="1" dirty="0"/>
              <a:t>compare</a:t>
            </a:r>
            <a:r>
              <a:rPr lang="en-US" dirty="0"/>
              <a:t> how GRU performs on the same task and dataset.</a:t>
            </a:r>
          </a:p>
          <a:p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F9EFB-AA66-E865-0EDC-BEA9CA884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625" y="0"/>
            <a:ext cx="4210638" cy="3277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CD57CF-1CD0-2A2A-3B14-81BDF863C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021" y="4181754"/>
            <a:ext cx="2657846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3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6C06DC-6907-5027-18F2-9F8A28B7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loss validation</a:t>
            </a:r>
            <a:endParaRPr lang="en-U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24E844-F0C0-D930-BBD5-447F3B9035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573503"/>
            <a:ext cx="8947150" cy="315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92327B-58ED-C6C4-694E-1054B9766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78" y="5714999"/>
            <a:ext cx="6763694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8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BBFFB-9630-43A8-84F4-FCBCAF56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3. Word2Vec Embeddings</a:t>
            </a:r>
            <a:br>
              <a:rPr lang="en-US" b="1">
                <a:solidFill>
                  <a:srgbClr val="FFFFFF"/>
                </a:solidFill>
              </a:rPr>
            </a:b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3520-A33C-E198-DD23-9C089C068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094" y="2155085"/>
            <a:ext cx="5693273" cy="34848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Now the focus shifts to </a:t>
            </a:r>
            <a:r>
              <a:rPr lang="en-US" sz="1900" b="1" dirty="0"/>
              <a:t>word embeddings</a:t>
            </a:r>
            <a:r>
              <a:rPr lang="en-US" sz="1900" dirty="0"/>
              <a:t>, specifically </a:t>
            </a:r>
            <a:r>
              <a:rPr lang="en-US" sz="1900" b="1" dirty="0"/>
              <a:t>Word2Vec</a:t>
            </a:r>
            <a:r>
              <a:rPr lang="en-US" sz="1900" dirty="0"/>
              <a:t>, which learns vector representations of words based on their contexts in text.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In this section: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A </a:t>
            </a:r>
            <a:r>
              <a:rPr lang="en-US" sz="1900" b="1" dirty="0"/>
              <a:t>Word2Vec model</a:t>
            </a:r>
            <a:r>
              <a:rPr lang="en-US" sz="1900" dirty="0"/>
              <a:t> is trained on the dataset (or pre-trained vectors are loaded).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 notebook extracts </a:t>
            </a:r>
            <a:r>
              <a:rPr lang="en-US" sz="1900" b="1" dirty="0"/>
              <a:t>word embeddings</a:t>
            </a:r>
            <a:r>
              <a:rPr lang="en-US" sz="1900" dirty="0"/>
              <a:t> for each text sample.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These embeddings are then used to train a </a:t>
            </a:r>
            <a:r>
              <a:rPr lang="en-US" sz="1900" b="1" dirty="0"/>
              <a:t>simpler classifier</a:t>
            </a:r>
            <a:r>
              <a:rPr lang="en-US" sz="1900" dirty="0"/>
              <a:t> (like logistic regression) for sentiment prediction.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 goal is to show that even without deep networks, </a:t>
            </a:r>
            <a:r>
              <a:rPr lang="en-US" sz="1900" b="1" dirty="0"/>
              <a:t>word embeddings + classical ML</a:t>
            </a:r>
            <a:r>
              <a:rPr lang="en-US" sz="1900" dirty="0"/>
              <a:t> can perform well.</a:t>
            </a:r>
          </a:p>
          <a:p>
            <a:pPr>
              <a:lnSpc>
                <a:spcPct val="90000"/>
              </a:lnSpc>
            </a:pPr>
            <a:endParaRPr lang="en-UG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D33C7-618F-CABD-BB21-6BBC095A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763" y="2379146"/>
            <a:ext cx="4648849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08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B5018-2317-5F59-9F57-148CDD18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4. FastText Embeddings</a:t>
            </a:r>
            <a:br>
              <a:rPr lang="en-US" b="1">
                <a:solidFill>
                  <a:srgbClr val="FFFFFF"/>
                </a:solidFill>
              </a:rPr>
            </a:b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800BF-8687-28A6-0A51-B56E5682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This section introduces </a:t>
            </a:r>
            <a:r>
              <a:rPr lang="en-US" b="1" dirty="0" err="1"/>
              <a:t>FastText</a:t>
            </a:r>
            <a:r>
              <a:rPr lang="en-US" dirty="0"/>
              <a:t>, another embedding method created by Facebook AI that extends Word2Vec by considering </a:t>
            </a:r>
            <a:r>
              <a:rPr lang="en-US" dirty="0" err="1"/>
              <a:t>subword</a:t>
            </a:r>
            <a:r>
              <a:rPr lang="en-US" dirty="0"/>
              <a:t> information (useful for morphologically rich languages like Swahili).</a:t>
            </a:r>
          </a:p>
          <a:p>
            <a:pPr>
              <a:lnSpc>
                <a:spcPct val="90000"/>
              </a:lnSpc>
            </a:pPr>
            <a:r>
              <a:rPr lang="en-US" dirty="0"/>
              <a:t>Steps typically include:</a:t>
            </a:r>
          </a:p>
          <a:p>
            <a:pPr>
              <a:lnSpc>
                <a:spcPct val="90000"/>
              </a:lnSpc>
            </a:pPr>
            <a:r>
              <a:rPr lang="en-US" dirty="0"/>
              <a:t>Training or loading </a:t>
            </a:r>
            <a:r>
              <a:rPr lang="en-US" dirty="0" err="1"/>
              <a:t>FastText</a:t>
            </a:r>
            <a:r>
              <a:rPr lang="en-US" dirty="0"/>
              <a:t> embeddings.</a:t>
            </a:r>
          </a:p>
          <a:p>
            <a:pPr>
              <a:lnSpc>
                <a:spcPct val="90000"/>
              </a:lnSpc>
            </a:pPr>
            <a:r>
              <a:rPr lang="en-US" dirty="0"/>
              <a:t>Representing text as averaged </a:t>
            </a:r>
            <a:r>
              <a:rPr lang="en-US" dirty="0" err="1"/>
              <a:t>FastText</a:t>
            </a:r>
            <a:r>
              <a:rPr lang="en-US" dirty="0"/>
              <a:t> vectors.</a:t>
            </a:r>
          </a:p>
          <a:p>
            <a:pPr>
              <a:lnSpc>
                <a:spcPct val="90000"/>
              </a:lnSpc>
            </a:pPr>
            <a:r>
              <a:rPr lang="en-US" dirty="0"/>
              <a:t>Using those vectors for classification (e.g., logistic regression, SVM).</a:t>
            </a:r>
          </a:p>
          <a:p>
            <a:pPr>
              <a:lnSpc>
                <a:spcPct val="90000"/>
              </a:lnSpc>
            </a:pPr>
            <a:r>
              <a:rPr lang="en-US" dirty="0"/>
              <a:t>The main goal here is to show that </a:t>
            </a:r>
            <a:r>
              <a:rPr lang="en-US" b="1" dirty="0" err="1"/>
              <a:t>FastText</a:t>
            </a:r>
            <a:r>
              <a:rPr lang="en-US" b="1" dirty="0"/>
              <a:t> handles rare words and local languages</a:t>
            </a:r>
            <a:r>
              <a:rPr lang="en-US" dirty="0"/>
              <a:t> better than Word2Vec.</a:t>
            </a:r>
          </a:p>
          <a:p>
            <a:pPr>
              <a:lnSpc>
                <a:spcPct val="90000"/>
              </a:lnSpc>
            </a:pP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CD765-E7FA-9CFD-46BD-781100FA9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151" y="3746392"/>
            <a:ext cx="5191850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90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6D74-FDC1-526D-6162-71A4D34D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US"/>
              <a:t>Model comparision</a:t>
            </a:r>
            <a:endParaRPr lang="en-UG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BAF956B-591A-4461-BB3C-79AA176B09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E8895FAA-0D03-43F6-9594-A8733552E2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D4688-956D-16EF-E05B-B3D0F526D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55" y="141674"/>
            <a:ext cx="6215526" cy="4195480"/>
          </a:xfrm>
          <a:prstGeom prst="rect">
            <a:avLst/>
          </a:prstGeom>
          <a:effectLst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18FB696-BC5E-43A4-9768-4BB5278BDC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1DD19-B8ED-3081-5790-71B7C0D66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Here we used confusion matrix and misclassification analysis </a:t>
            </a:r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E5C12-1C27-E158-7EC6-414560110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541" y="4752909"/>
            <a:ext cx="5885013" cy="18243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4377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59" name="Oval 2058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2061" name="Picture 2060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63" name="Picture 2062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65" name="Rectangle 2064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45CE49-3603-7966-4126-3F4226A802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148" y="643467"/>
            <a:ext cx="891370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Rectangle 2068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66723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5" name="Picture 3094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96" name="Picture 3095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97" name="Oval 3096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3098" name="Picture 3097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99" name="Picture 3098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00" name="Rectangle 309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 useBgFill="1">
        <p:nvSpPr>
          <p:cNvPr id="3101" name="Rectangle 3100">
            <a:extLst>
              <a:ext uri="{FF2B5EF4-FFF2-40B4-BE49-F238E27FC236}">
                <a16:creationId xmlns:a16="http://schemas.microsoft.com/office/drawing/2014/main" id="{61FEBC38-2320-414A-A3F3-23958170AA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17F17AD0-4668-46E4-B248-CD980B04F8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5F5F5F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F1523C-11F0-9788-7337-73527CB92F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546" y="1599853"/>
            <a:ext cx="10905066" cy="34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022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D7408-BFC1-08AD-CA15-4CCBFA5E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Tokenization strategies and Embedding analysis 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08ABA-134E-7196-1E9F-356DD6902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54" y="1602437"/>
            <a:ext cx="6270662" cy="36526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44667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4102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105" name="Picture 4104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107" name="Oval 4106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4109" name="Picture 4108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11" name="Picture 4110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13" name="Rectangle 4112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 useBgFill="1">
        <p:nvSpPr>
          <p:cNvPr id="4115" name="Rectangle 4114">
            <a:extLst>
              <a:ext uri="{FF2B5EF4-FFF2-40B4-BE49-F238E27FC236}">
                <a16:creationId xmlns:a16="http://schemas.microsoft.com/office/drawing/2014/main" id="{61FEBC38-2320-414A-A3F3-23958170AA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17F17AD0-4668-46E4-B248-CD980B04F8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5F5F5F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10D5CCC-D788-C641-668F-609BC3587B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530" y="480060"/>
            <a:ext cx="649686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CCB5D-0316-C119-D6CF-36FD7917D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399" y="739397"/>
            <a:ext cx="438034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80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295</TotalTime>
  <Words>358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Natural Language Processing </vt:lpstr>
      <vt:lpstr>Data Loading &amp; Preprocessing </vt:lpstr>
      <vt:lpstr>PowerPoint Presentation</vt:lpstr>
      <vt:lpstr>PowerPoint Presentation</vt:lpstr>
      <vt:lpstr>BiLSTM Model with Custom Embeddings</vt:lpstr>
      <vt:lpstr>GRU Model </vt:lpstr>
      <vt:lpstr>Training loss validation</vt:lpstr>
      <vt:lpstr>3. Word2Vec Embeddings </vt:lpstr>
      <vt:lpstr>4. FastText Embeddings </vt:lpstr>
      <vt:lpstr>Model comparision</vt:lpstr>
      <vt:lpstr>PowerPoint Presentation</vt:lpstr>
      <vt:lpstr>PowerPoint Presentation</vt:lpstr>
      <vt:lpstr>Tokenization strategies and Embedding analysis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</dc:title>
  <dc:creator>Hansen Andrew</dc:creator>
  <cp:lastModifiedBy>diana</cp:lastModifiedBy>
  <cp:revision>3</cp:revision>
  <dcterms:created xsi:type="dcterms:W3CDTF">2025-10-28T17:57:36Z</dcterms:created>
  <dcterms:modified xsi:type="dcterms:W3CDTF">2025-11-05T11:21:53Z</dcterms:modified>
</cp:coreProperties>
</file>